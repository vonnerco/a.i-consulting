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acifico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acific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34553f9b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34553f9b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4553f9b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34553f9b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34553f9b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34553f9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34553f9b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34553f9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34553f9b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34553f9b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34553f9b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34553f9b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372550" y="2365599"/>
            <a:ext cx="6008400" cy="87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>
                <a:solidFill>
                  <a:srgbClr val="FFFFFF"/>
                </a:solidFill>
              </a:rPr>
              <a:t>AI Software Development Proposal: </a:t>
            </a:r>
            <a:endParaRPr sz="228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80">
                <a:solidFill>
                  <a:srgbClr val="FFFFFF"/>
                </a:solidFill>
              </a:rPr>
              <a:t>Delta IT Applications</a:t>
            </a:r>
            <a:endParaRPr sz="208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47350" y="4446250"/>
            <a:ext cx="1258800" cy="5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Corderio Vonner</a:t>
            </a:r>
            <a:endParaRPr sz="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February 3rd 2026</a:t>
            </a:r>
            <a:endParaRPr sz="900">
              <a:solidFill>
                <a:srgbClr val="FFFF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50" y="0"/>
            <a:ext cx="8457175" cy="11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60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593475" y="1076525"/>
            <a:ext cx="3927300" cy="3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79">
                <a:solidFill>
                  <a:srgbClr val="FFFFFF"/>
                </a:solidFill>
              </a:rPr>
              <a:t>Core Values </a:t>
            </a:r>
            <a:r>
              <a:rPr i="1" lang="en" sz="1180">
                <a:solidFill>
                  <a:srgbClr val="E31C23"/>
                </a:solidFill>
              </a:rPr>
              <a:t>(</a:t>
            </a:r>
            <a:r>
              <a:rPr i="1" lang="en" sz="1180">
                <a:solidFill>
                  <a:srgbClr val="E31C23"/>
                </a:solidFill>
              </a:rPr>
              <a:t>Delta’s Heart</a:t>
            </a:r>
            <a:r>
              <a:rPr i="1" lang="en" sz="1180">
                <a:solidFill>
                  <a:srgbClr val="E31C23"/>
                </a:solidFill>
              </a:rPr>
              <a:t>)</a:t>
            </a:r>
            <a:endParaRPr i="1" sz="1180">
              <a:solidFill>
                <a:srgbClr val="E31C23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0" y="0"/>
            <a:ext cx="8330101" cy="10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ctrTitle"/>
          </p:nvPr>
        </p:nvSpPr>
        <p:spPr>
          <a:xfrm>
            <a:off x="593475" y="2628900"/>
            <a:ext cx="5694300" cy="4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79">
                <a:solidFill>
                  <a:srgbClr val="FFFFFF"/>
                </a:solidFill>
              </a:rPr>
              <a:t>Key Values &amp; Commitments </a:t>
            </a:r>
            <a:r>
              <a:rPr i="1" lang="en" sz="1180">
                <a:solidFill>
                  <a:srgbClr val="E31C23"/>
                </a:solidFill>
              </a:rPr>
              <a:t>(Delta’s Culture)</a:t>
            </a:r>
            <a:r>
              <a:rPr lang="en" sz="1679">
                <a:solidFill>
                  <a:srgbClr val="E31C23"/>
                </a:solidFill>
              </a:rPr>
              <a:t> </a:t>
            </a:r>
            <a:endParaRPr sz="1679">
              <a:solidFill>
                <a:srgbClr val="E31C23"/>
              </a:solidFill>
            </a:endParaRPr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701175" y="1409100"/>
            <a:ext cx="7359300" cy="121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Care - </a:t>
            </a:r>
            <a:r>
              <a:rPr lang="en" sz="1180">
                <a:solidFill>
                  <a:srgbClr val="FFFFFF"/>
                </a:solidFill>
              </a:rPr>
              <a:t>Prioritizes concern for people, customers &amp; communities</a:t>
            </a:r>
            <a:endParaRPr sz="11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Integrity - </a:t>
            </a:r>
            <a:r>
              <a:rPr lang="en" sz="1180">
                <a:solidFill>
                  <a:schemeClr val="lt1"/>
                </a:solidFill>
              </a:rPr>
              <a:t>Act</a:t>
            </a:r>
            <a:r>
              <a:rPr lang="en" sz="1180">
                <a:solidFill>
                  <a:schemeClr val="lt1"/>
                </a:solidFill>
              </a:rPr>
              <a:t> honestly and ethically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Resilience - </a:t>
            </a:r>
            <a:r>
              <a:rPr lang="en" sz="1180">
                <a:solidFill>
                  <a:schemeClr val="lt1"/>
                </a:solidFill>
              </a:rPr>
              <a:t>Adapt and persevere through challenges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Servant Leadership - </a:t>
            </a:r>
            <a:r>
              <a:rPr lang="en" sz="1180">
                <a:solidFill>
                  <a:schemeClr val="lt1"/>
                </a:solidFill>
              </a:rPr>
              <a:t>Lead by serving others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Teamwork - </a:t>
            </a:r>
            <a:r>
              <a:rPr lang="en" sz="1180">
                <a:solidFill>
                  <a:schemeClr val="lt1"/>
                </a:solidFill>
              </a:rPr>
              <a:t>Collaboration </a:t>
            </a:r>
            <a:r>
              <a:rPr lang="en" sz="1180">
                <a:solidFill>
                  <a:schemeClr val="lt1"/>
                </a:solidFill>
              </a:rPr>
              <a:t>across</a:t>
            </a:r>
            <a:r>
              <a:rPr lang="en" sz="1180">
                <a:solidFill>
                  <a:schemeClr val="lt1"/>
                </a:solidFill>
              </a:rPr>
              <a:t> teams</a:t>
            </a:r>
            <a:endParaRPr sz="1380">
              <a:solidFill>
                <a:srgbClr val="FFFFFF"/>
              </a:solidFill>
            </a:endParaRPr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701175" y="2961475"/>
            <a:ext cx="8169900" cy="16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Purpose &amp; Culture - </a:t>
            </a:r>
            <a:r>
              <a:rPr lang="en" sz="1180">
                <a:solidFill>
                  <a:schemeClr val="lt1"/>
                </a:solidFill>
              </a:rPr>
              <a:t>Connect people to opportunities and to each other through global travel.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Diversity, Equity &amp; Inclusion (DEI) </a:t>
            </a:r>
            <a:r>
              <a:rPr lang="en" sz="1380">
                <a:solidFill>
                  <a:schemeClr val="lt1"/>
                </a:solidFill>
              </a:rPr>
              <a:t>- </a:t>
            </a:r>
            <a:r>
              <a:rPr lang="en" sz="1180">
                <a:solidFill>
                  <a:schemeClr val="lt1"/>
                </a:solidFill>
              </a:rPr>
              <a:t>Connect the world. Reflect the world. Respect the world.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Sustainability </a:t>
            </a:r>
            <a:r>
              <a:rPr lang="en" sz="1380">
                <a:solidFill>
                  <a:schemeClr val="lt1"/>
                </a:solidFill>
              </a:rPr>
              <a:t>- </a:t>
            </a:r>
            <a:r>
              <a:rPr lang="en" sz="1180">
                <a:solidFill>
                  <a:schemeClr val="lt1"/>
                </a:solidFill>
              </a:rPr>
              <a:t>Become Net Zero by 2050. Reduce waste. Innovate for sustainable travel.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Community Engagement </a:t>
            </a:r>
            <a:r>
              <a:rPr lang="en" sz="1380">
                <a:solidFill>
                  <a:schemeClr val="lt1"/>
                </a:solidFill>
              </a:rPr>
              <a:t>- </a:t>
            </a:r>
            <a:r>
              <a:rPr lang="en" sz="1180">
                <a:solidFill>
                  <a:schemeClr val="lt1"/>
                </a:solidFill>
              </a:rPr>
              <a:t>Invest in progress. Cultivate caring relationships. Be a strong partner.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Operational excellence &amp; reliability </a:t>
            </a:r>
            <a:r>
              <a:rPr lang="en" sz="1380">
                <a:solidFill>
                  <a:schemeClr val="lt1"/>
                </a:solidFill>
              </a:rPr>
              <a:t>- </a:t>
            </a:r>
            <a:r>
              <a:rPr lang="en" sz="1180">
                <a:solidFill>
                  <a:schemeClr val="lt1"/>
                </a:solidFill>
              </a:rPr>
              <a:t>Maintains high standards in service and performance.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Employee well-being &amp; workplace culture </a:t>
            </a:r>
            <a:r>
              <a:rPr lang="en" sz="1380">
                <a:solidFill>
                  <a:schemeClr val="lt1"/>
                </a:solidFill>
              </a:rPr>
              <a:t>- </a:t>
            </a:r>
            <a:r>
              <a:rPr lang="en" sz="1180">
                <a:solidFill>
                  <a:schemeClr val="lt1"/>
                </a:solidFill>
              </a:rPr>
              <a:t>Fosters a thriving, inclusive work environment.</a:t>
            </a:r>
            <a:endParaRPr sz="1380">
              <a:solidFill>
                <a:srgbClr val="FFFFFF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0"/>
              <a:buChar char="●"/>
            </a:pPr>
            <a:r>
              <a:rPr lang="en" sz="1380">
                <a:solidFill>
                  <a:srgbClr val="FFFFFF"/>
                </a:solidFill>
              </a:rPr>
              <a:t>Corporate citizenship &amp; community impact</a:t>
            </a:r>
            <a:r>
              <a:rPr lang="en" sz="1380">
                <a:solidFill>
                  <a:schemeClr val="lt1"/>
                </a:solidFill>
              </a:rPr>
              <a:t> - </a:t>
            </a:r>
            <a:r>
              <a:rPr lang="en" sz="1180">
                <a:solidFill>
                  <a:schemeClr val="lt1"/>
                </a:solidFill>
              </a:rPr>
              <a:t>Being the most community-minded company in US.</a:t>
            </a:r>
            <a:endParaRPr sz="1380">
              <a:solidFill>
                <a:srgbClr val="FFFFFF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60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04175" y="1250325"/>
            <a:ext cx="8566800" cy="3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79">
                <a:solidFill>
                  <a:srgbClr val="FFFFFF"/>
                </a:solidFill>
              </a:rPr>
              <a:t>Goal</a:t>
            </a:r>
            <a:r>
              <a:rPr lang="en" sz="1580">
                <a:solidFill>
                  <a:srgbClr val="FFFFFF"/>
                </a:solidFill>
              </a:rPr>
              <a:t>: To Design, Develop &amp; Deploy </a:t>
            </a:r>
            <a:r>
              <a:rPr b="1" i="1" lang="en" sz="1580">
                <a:solidFill>
                  <a:srgbClr val="E31C23"/>
                </a:solidFill>
              </a:rPr>
              <a:t>3 </a:t>
            </a:r>
            <a:r>
              <a:rPr b="1" lang="en" sz="1580">
                <a:solidFill>
                  <a:srgbClr val="FFFFFF"/>
                </a:solidFill>
              </a:rPr>
              <a:t>AI-driven</a:t>
            </a:r>
            <a:r>
              <a:rPr lang="en" sz="1580">
                <a:solidFill>
                  <a:srgbClr val="FFFFFF"/>
                </a:solidFill>
              </a:rPr>
              <a:t> applications to enhance Delta’s IT </a:t>
            </a:r>
            <a:r>
              <a:rPr lang="en" sz="1580">
                <a:solidFill>
                  <a:srgbClr val="FFFFFF"/>
                </a:solidFill>
              </a:rPr>
              <a:t>ecosystem </a:t>
            </a:r>
            <a:endParaRPr i="1" sz="1380">
              <a:solidFill>
                <a:srgbClr val="E31C23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0" y="0"/>
            <a:ext cx="8330101" cy="10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ctrTitle"/>
          </p:nvPr>
        </p:nvSpPr>
        <p:spPr>
          <a:xfrm>
            <a:off x="527225" y="4415900"/>
            <a:ext cx="6932700" cy="6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80">
                <a:solidFill>
                  <a:srgbClr val="FFFFFF"/>
                </a:solidFill>
              </a:rPr>
              <a:t>Each AI solution leverages AWS serverless architecture, CI/CD pipelines, </a:t>
            </a:r>
            <a:endParaRPr sz="14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80">
                <a:solidFill>
                  <a:srgbClr val="FFFFFF"/>
                </a:solidFill>
              </a:rPr>
              <a:t>DevOps best practices, AI/ML frameworks, and Delta’s Agile methodology.</a:t>
            </a:r>
            <a:endParaRPr i="1" sz="1280">
              <a:solidFill>
                <a:srgbClr val="E31C23"/>
              </a:solidFill>
            </a:endParaRPr>
          </a:p>
        </p:txBody>
      </p:sp>
      <p:sp>
        <p:nvSpPr>
          <p:cNvPr id="75" name="Google Shape;75;p15"/>
          <p:cNvSpPr txBox="1"/>
          <p:nvPr>
            <p:ph type="ctrTitle"/>
          </p:nvPr>
        </p:nvSpPr>
        <p:spPr>
          <a:xfrm>
            <a:off x="527225" y="1954700"/>
            <a:ext cx="7388700" cy="18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E31C23"/>
                </a:solidFill>
              </a:rPr>
              <a:t>DeltaChat AI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FFFFFF"/>
                </a:solidFill>
              </a:rPr>
              <a:t>AI Customer Interaction Chatbot</a:t>
            </a:r>
            <a:r>
              <a:rPr lang="en" sz="1500">
                <a:solidFill>
                  <a:srgbClr val="FFFFFF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- Conversational AI for customer interaction.</a:t>
            </a:r>
            <a:endParaRPr sz="150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E31C23"/>
                </a:solidFill>
              </a:rPr>
              <a:t>CodePilot AI</a:t>
            </a:r>
            <a:endParaRPr i="1"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FFFFFF"/>
                </a:solidFill>
              </a:rPr>
              <a:t>Intelligent</a:t>
            </a:r>
            <a:r>
              <a:rPr i="1" lang="en" sz="1500">
                <a:solidFill>
                  <a:srgbClr val="FFFFFF"/>
                </a:solidFill>
              </a:rPr>
              <a:t> Code Assistant </a:t>
            </a:r>
            <a:r>
              <a:rPr lang="en" sz="1500">
                <a:solidFill>
                  <a:srgbClr val="FFFFFF"/>
                </a:solidFill>
              </a:rPr>
              <a:t>- Developer productivity and code optimization.</a:t>
            </a:r>
            <a:endParaRPr sz="150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E31C23"/>
                </a:solidFill>
              </a:rPr>
              <a:t>DeltaOps AI</a:t>
            </a:r>
            <a:endParaRPr i="1"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FFFFFF"/>
                </a:solidFill>
              </a:rPr>
              <a:t>Predictive ML Agent</a:t>
            </a:r>
            <a:r>
              <a:rPr lang="en" sz="1500">
                <a:solidFill>
                  <a:srgbClr val="FFFFFF"/>
                </a:solidFill>
              </a:rPr>
              <a:t> </a:t>
            </a:r>
            <a:r>
              <a:rPr lang="en" sz="1500">
                <a:solidFill>
                  <a:srgbClr val="FFFFFF"/>
                </a:solidFill>
              </a:rPr>
              <a:t>- System monitoring for Delta’s core IT infrastructure.</a:t>
            </a:r>
            <a:endParaRPr sz="1300">
              <a:solidFill>
                <a:srgbClr val="FFFFFF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60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504525" y="1565550"/>
            <a:ext cx="8454900" cy="34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Requirements Analysis</a:t>
            </a:r>
            <a:r>
              <a:rPr b="1" lang="en" sz="12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Define KPIs</a:t>
            </a:r>
            <a:r>
              <a:rPr lang="en" sz="1300">
                <a:solidFill>
                  <a:srgbClr val="999999"/>
                </a:solidFill>
              </a:rPr>
              <a:t>: Response Time, TTR &amp; 24/7 uptime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 Gather common Delta customer inquiries (ticketing, baggage, flight updates).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Architecture Design </a:t>
            </a:r>
            <a:r>
              <a:rPr b="1" lang="en" sz="1300">
                <a:solidFill>
                  <a:srgbClr val="999999"/>
                </a:solidFill>
              </a:rPr>
              <a:t>AWS Lex Gen AI V2: </a:t>
            </a:r>
            <a:r>
              <a:rPr lang="en" sz="1300">
                <a:solidFill>
                  <a:srgbClr val="999999"/>
                </a:solidFill>
              </a:rPr>
              <a:t>conversational understanding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AWS Lambda, API Gateway, DynamoDB, S3, EventBridge, SNS/SQS, Step Functions.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Conversation Flow Design</a:t>
            </a:r>
            <a:r>
              <a:rPr lang="en" sz="1200">
                <a:solidFill>
                  <a:srgbClr val="999999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AWS Connect: </a:t>
            </a:r>
            <a:r>
              <a:rPr lang="en" sz="1300">
                <a:solidFill>
                  <a:srgbClr val="999999"/>
                </a:solidFill>
              </a:rPr>
              <a:t>customer interaction routing</a:t>
            </a:r>
            <a:endParaRPr i="1"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Map customer intents. Build decision trees. Implement fallback &amp; escalation logic.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Data Pipeline &amp; Integration</a:t>
            </a:r>
            <a:r>
              <a:rPr lang="en" sz="13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EventBridge, SNS, SQS &amp; Step Functions: </a:t>
            </a:r>
            <a:r>
              <a:rPr lang="en" sz="1300">
                <a:solidFill>
                  <a:srgbClr val="999999"/>
                </a:solidFill>
              </a:rPr>
              <a:t>collect real-time customer queries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Collect web, mobile &amp; call center queries. Store conversation logs in Amazon S3 buckets.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AI Model Implementation</a:t>
            </a:r>
            <a:r>
              <a:rPr lang="en" sz="13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Lambda: </a:t>
            </a:r>
            <a:r>
              <a:rPr lang="en" sz="1300">
                <a:solidFill>
                  <a:srgbClr val="999999"/>
                </a:solidFill>
              </a:rPr>
              <a:t>context retention using session attributes &amp; conversation logs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Fine-tune pre-trained models (Claude or GPT-based) with Delta-specific domain knowledge.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Deployment &amp; CI/CD</a:t>
            </a:r>
            <a:r>
              <a:rPr b="1" lang="en" sz="1200">
                <a:solidFill>
                  <a:srgbClr val="999999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AWS CloudFormation or Terraform:</a:t>
            </a:r>
            <a:r>
              <a:rPr lang="en" sz="1300">
                <a:solidFill>
                  <a:srgbClr val="999999"/>
                </a:solidFill>
              </a:rPr>
              <a:t> Infrastructure-as-Code (IaC) development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Run unit tests using Test-Driven-Development (TDD) &amp; integration tests with BDD frameworks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Monitoring &amp; Maintenance </a:t>
            </a:r>
            <a:r>
              <a:rPr b="1" lang="en" sz="1300">
                <a:solidFill>
                  <a:srgbClr val="999999"/>
                </a:solidFill>
              </a:rPr>
              <a:t>AWS CloudWatch &amp; Lambda logs: </a:t>
            </a:r>
            <a:r>
              <a:rPr lang="en" sz="1300">
                <a:solidFill>
                  <a:srgbClr val="999999"/>
                </a:solidFill>
              </a:rPr>
              <a:t>monitor performance &amp; track system behavior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Improve intent accuracy. Automate SNS/SQS alerts. Notify failures or anomalous behavior.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82" name="Google Shape;82;p16"/>
          <p:cNvSpPr txBox="1"/>
          <p:nvPr>
            <p:ph type="ctrTitle"/>
          </p:nvPr>
        </p:nvSpPr>
        <p:spPr>
          <a:xfrm>
            <a:off x="378750" y="946200"/>
            <a:ext cx="4115700" cy="39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r>
              <a:rPr lang="en" sz="1679">
                <a:solidFill>
                  <a:srgbClr val="FFFFFF"/>
                </a:solidFill>
              </a:rPr>
              <a:t>DeltaChat AI - </a:t>
            </a:r>
            <a:r>
              <a:rPr lang="en" sz="1380">
                <a:solidFill>
                  <a:srgbClr val="FFFFFF"/>
                </a:solidFill>
              </a:rPr>
              <a:t>AI Customer Interaction Chatbot </a:t>
            </a:r>
            <a:endParaRPr i="1" sz="980">
              <a:solidFill>
                <a:srgbClr val="E31C23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45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50" y="0"/>
            <a:ext cx="8330101" cy="10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ctrTitle"/>
          </p:nvPr>
        </p:nvSpPr>
        <p:spPr>
          <a:xfrm>
            <a:off x="418425" y="946200"/>
            <a:ext cx="86271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>
                <a:solidFill>
                  <a:srgbClr val="FFFFFF"/>
                </a:solidFill>
              </a:rPr>
              <a:t>Automate customer interactions across Delta’s platforms, providing self-service &amp; personalized responses.</a:t>
            </a:r>
            <a:endParaRPr i="1" sz="1200">
              <a:solidFill>
                <a:srgbClr val="E31C2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ctrTitle"/>
          </p:nvPr>
        </p:nvSpPr>
        <p:spPr>
          <a:xfrm>
            <a:off x="478550" y="1557525"/>
            <a:ext cx="8454900" cy="3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Requirements Analysis</a:t>
            </a:r>
            <a:r>
              <a:rPr b="1" lang="en" sz="12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Define KPIs</a:t>
            </a:r>
            <a:r>
              <a:rPr lang="en" sz="1300">
                <a:solidFill>
                  <a:srgbClr val="999999"/>
                </a:solidFill>
              </a:rPr>
              <a:t>: </a:t>
            </a:r>
            <a:r>
              <a:rPr lang="en" sz="1300">
                <a:solidFill>
                  <a:srgbClr val="999999"/>
                </a:solidFill>
              </a:rPr>
              <a:t>Reduce code review time by 40%, catch 90% of syntax/logic errors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 Identify repetitive coding tasks: boilerplate code, API integration, serverless functions.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Architecture Design </a:t>
            </a:r>
            <a:r>
              <a:rPr b="1" lang="en" sz="1300">
                <a:solidFill>
                  <a:srgbClr val="999999"/>
                </a:solidFill>
              </a:rPr>
              <a:t>AWS Lambda + ECS Fargate: </a:t>
            </a:r>
            <a:r>
              <a:rPr lang="en" sz="1300">
                <a:solidFill>
                  <a:srgbClr val="999999"/>
                </a:solidFill>
              </a:rPr>
              <a:t>Host microservice-based AI applications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API Gateway integrates IDE plugins while DynamoDB provides persistent storage for code snippets &amp; training data</a:t>
            </a:r>
            <a:r>
              <a:rPr lang="en" sz="1200">
                <a:solidFill>
                  <a:schemeClr val="lt1"/>
                </a:solidFill>
              </a:rPr>
              <a:t>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AI/ML Implementation </a:t>
            </a:r>
            <a:r>
              <a:rPr b="1" lang="en" sz="1300">
                <a:solidFill>
                  <a:srgbClr val="999999"/>
                </a:solidFill>
              </a:rPr>
              <a:t>PyLint/Checkstyle/ESLint pipelines</a:t>
            </a:r>
            <a:r>
              <a:rPr b="1" lang="en" sz="1300">
                <a:solidFill>
                  <a:srgbClr val="999999"/>
                </a:solidFill>
              </a:rPr>
              <a:t>: </a:t>
            </a:r>
            <a:r>
              <a:rPr lang="en" sz="1300">
                <a:solidFill>
                  <a:srgbClr val="999999"/>
                </a:solidFill>
              </a:rPr>
              <a:t>Integrate static code analysis</a:t>
            </a:r>
            <a:endParaRPr i="1"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Use fine-tuned LLMs on Delta’s codebase with embeddings &amp; semantic search for code reuse suggestions.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Automation &amp; Workflow </a:t>
            </a:r>
            <a:r>
              <a:rPr b="1" lang="en" sz="1300">
                <a:solidFill>
                  <a:srgbClr val="999999"/>
                </a:solidFill>
              </a:rPr>
              <a:t>Lambda Functions</a:t>
            </a:r>
            <a:r>
              <a:rPr b="1" lang="en" sz="1300">
                <a:solidFill>
                  <a:srgbClr val="999999"/>
                </a:solidFill>
              </a:rPr>
              <a:t>: </a:t>
            </a:r>
            <a:r>
              <a:rPr lang="en" sz="1300">
                <a:solidFill>
                  <a:srgbClr val="999999"/>
                </a:solidFill>
              </a:rPr>
              <a:t>Evaluate suggestions &amp; provide automated code review comments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Integrate Jenkins/GitHub Actions to trigger AI suggestions &amp; perform automated CI/CD checks on PRs &amp; code commits.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Testing</a:t>
            </a:r>
            <a:r>
              <a:rPr lang="en" sz="1300">
                <a:solidFill>
                  <a:srgbClr val="E31C23"/>
                </a:solidFill>
              </a:rPr>
              <a:t> </a:t>
            </a:r>
            <a:r>
              <a:rPr lang="en" sz="1300">
                <a:solidFill>
                  <a:srgbClr val="999999"/>
                </a:solidFill>
              </a:rPr>
              <a:t>Jenkins CI/CD pipelines integrated with PyLint, Checkstyle, &amp; ESLint for automated static code analysis 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A/B testing to compare AI suggestions vs. manual developer actions &amp; run Unit tests for AI-generated code snippets.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Monitoring &amp; Maintenance </a:t>
            </a:r>
            <a:r>
              <a:rPr b="1" lang="en" sz="1300">
                <a:solidFill>
                  <a:srgbClr val="999999"/>
                </a:solidFill>
              </a:rPr>
              <a:t>AWS CloudWatch &amp; Lambda logs: </a:t>
            </a:r>
            <a:r>
              <a:rPr lang="en" sz="1300">
                <a:solidFill>
                  <a:srgbClr val="999999"/>
                </a:solidFill>
              </a:rPr>
              <a:t>monitor performance &amp; track system behavior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Establish an active feedback loop to continuously improve model predictions using (RLHF)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 txBox="1"/>
          <p:nvPr>
            <p:ph type="ctrTitle"/>
          </p:nvPr>
        </p:nvSpPr>
        <p:spPr>
          <a:xfrm>
            <a:off x="378750" y="946200"/>
            <a:ext cx="4115700" cy="39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br>
              <a:rPr lang="en" sz="1679">
                <a:solidFill>
                  <a:srgbClr val="FFFFFF"/>
                </a:solidFill>
              </a:rPr>
            </a:br>
            <a:r>
              <a:rPr lang="en" sz="1679">
                <a:solidFill>
                  <a:srgbClr val="FFFFFF"/>
                </a:solidFill>
              </a:rPr>
              <a:t>CodePilot AI</a:t>
            </a:r>
            <a:r>
              <a:rPr lang="en" sz="1679">
                <a:solidFill>
                  <a:srgbClr val="FFFFFF"/>
                </a:solidFill>
              </a:rPr>
              <a:t> - </a:t>
            </a:r>
            <a:r>
              <a:rPr lang="en" sz="1380">
                <a:solidFill>
                  <a:srgbClr val="FFFFFF"/>
                </a:solidFill>
              </a:rPr>
              <a:t>Intelligent Code Assistant</a:t>
            </a:r>
            <a:endParaRPr i="1" sz="980">
              <a:solidFill>
                <a:srgbClr val="E31C23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45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50" y="0"/>
            <a:ext cx="8330101" cy="10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ctrTitle"/>
          </p:nvPr>
        </p:nvSpPr>
        <p:spPr>
          <a:xfrm>
            <a:off x="392450" y="1266275"/>
            <a:ext cx="8627100" cy="3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>
                <a:solidFill>
                  <a:srgbClr val="FFFFFF"/>
                </a:solidFill>
              </a:rPr>
              <a:t>Assist Delta developers by Automating code generation, review, optimization &amp; improving </a:t>
            </a:r>
            <a:r>
              <a:rPr lang="en" sz="1200">
                <a:solidFill>
                  <a:schemeClr val="lt1"/>
                </a:solidFill>
              </a:rPr>
              <a:t>microservices </a:t>
            </a:r>
            <a:r>
              <a:rPr lang="en" sz="1200">
                <a:solidFill>
                  <a:srgbClr val="FFFFFF"/>
                </a:solidFill>
              </a:rPr>
              <a:t>productivity.</a:t>
            </a:r>
            <a:endParaRPr i="1" sz="1200">
              <a:solidFill>
                <a:srgbClr val="E31C2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478550" y="1557525"/>
            <a:ext cx="8454900" cy="348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Requirements Analysis</a:t>
            </a:r>
            <a:r>
              <a:rPr b="1" lang="en" sz="12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Define KPIs</a:t>
            </a:r>
            <a:r>
              <a:rPr lang="en" sz="1300">
                <a:solidFill>
                  <a:srgbClr val="999999"/>
                </a:solidFill>
              </a:rPr>
              <a:t>: </a:t>
            </a:r>
            <a:r>
              <a:rPr lang="en" sz="1300">
                <a:solidFill>
                  <a:srgbClr val="999999"/>
                </a:solidFill>
              </a:rPr>
              <a:t>Reduce system downtime by 50%, predict anomalies with 95% accuracy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 Identify repetitive coding tasks: boilerplate code, API integration, serverless functions.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Architecture Design </a:t>
            </a:r>
            <a:r>
              <a:rPr b="1" lang="en" sz="1300">
                <a:solidFill>
                  <a:srgbClr val="999999"/>
                </a:solidFill>
              </a:rPr>
              <a:t>Data Ingestion: </a:t>
            </a:r>
            <a:r>
              <a:rPr lang="en" sz="1300">
                <a:solidFill>
                  <a:srgbClr val="999999"/>
                </a:solidFill>
              </a:rPr>
              <a:t>CloudWatch logs → Kinesis Data Streams → S3/Redshift </a:t>
            </a:r>
            <a:endParaRPr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AWS Lambda &amp; Step Functions for event-driven workflows, with Python predictive models using TensorFlow &amp; PyTorch.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Feature Engineering</a:t>
            </a:r>
            <a:r>
              <a:rPr lang="en" sz="1200">
                <a:solidFill>
                  <a:srgbClr val="E31C23"/>
                </a:solidFill>
              </a:rPr>
              <a:t> </a:t>
            </a:r>
            <a:r>
              <a:rPr b="1" lang="en" sz="1300">
                <a:solidFill>
                  <a:srgbClr val="999999"/>
                </a:solidFill>
              </a:rPr>
              <a:t>Generate </a:t>
            </a:r>
            <a:r>
              <a:rPr lang="en" sz="1300">
                <a:solidFill>
                  <a:srgbClr val="999999"/>
                </a:solidFill>
              </a:rPr>
              <a:t>time-series datasets for anomaly detection models</a:t>
            </a:r>
            <a:endParaRPr i="1" sz="13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Extract &amp; monitor KPI metrics: CPU usage, memory consumption, API response times, &amp; Lambda execution duration.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Model Development </a:t>
            </a:r>
            <a:r>
              <a:rPr b="1" lang="en" sz="1300">
                <a:solidFill>
                  <a:srgbClr val="999999"/>
                </a:solidFill>
              </a:rPr>
              <a:t>AWS SageMaker: </a:t>
            </a:r>
            <a:r>
              <a:rPr lang="en" sz="1300">
                <a:solidFill>
                  <a:srgbClr val="999999"/>
                </a:solidFill>
              </a:rPr>
              <a:t>Deploy models for supervised and Unsupervised learning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Random Forest &amp; XGBoost for failure prediction. Autoencoders &amp; Isolation Forest for anomaly detection.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Visualization &amp; Alerts </a:t>
            </a:r>
            <a:r>
              <a:rPr b="1" lang="en" sz="1300">
                <a:solidFill>
                  <a:srgbClr val="999999"/>
                </a:solidFill>
              </a:rPr>
              <a:t>QuickSight: </a:t>
            </a:r>
            <a:r>
              <a:rPr lang="en" sz="1300">
                <a:solidFill>
                  <a:srgbClr val="999999"/>
                </a:solidFill>
              </a:rPr>
              <a:t>Dashboard that shows system health metrics &amp; predicted failures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Real-time alerts via SNS for critical incidents &amp; integration with 3rd party applications for incident response automation.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31C23"/>
                </a:solidFill>
              </a:rPr>
              <a:t>CI/CD </a:t>
            </a:r>
            <a:r>
              <a:rPr lang="en" sz="1200">
                <a:solidFill>
                  <a:srgbClr val="E31C23"/>
                </a:solidFill>
              </a:rPr>
              <a:t>Maintenance </a:t>
            </a:r>
            <a:r>
              <a:rPr b="1" lang="en" sz="1300">
                <a:solidFill>
                  <a:srgbClr val="999999"/>
                </a:solidFill>
              </a:rPr>
              <a:t>Jenkins pipeline:</a:t>
            </a:r>
            <a:r>
              <a:rPr lang="en" sz="1300">
                <a:solidFill>
                  <a:srgbClr val="999999"/>
                </a:solidFill>
              </a:rPr>
              <a:t> LLM &amp; SML retraining, RLHF &amp; Lambda updates</a:t>
            </a:r>
            <a:endParaRPr i="1" sz="1600"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</a:t>
            </a:r>
            <a:r>
              <a:rPr lang="en" sz="1200">
                <a:solidFill>
                  <a:schemeClr val="lt1"/>
                </a:solidFill>
              </a:rPr>
              <a:t>Continuous monitoring of performance benchmarks, model drift, retraining triggers based on accuracy thresholds.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>
            <p:ph type="ctrTitle"/>
          </p:nvPr>
        </p:nvSpPr>
        <p:spPr>
          <a:xfrm>
            <a:off x="392450" y="1266275"/>
            <a:ext cx="8627100" cy="3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>
                <a:solidFill>
                  <a:srgbClr val="FFFFFF"/>
                </a:solidFill>
              </a:rPr>
              <a:t>Continuously monitor Delta’s IT infrastructure &amp; predict potential failures or performance bottlenecks.</a:t>
            </a:r>
            <a:endParaRPr i="1" sz="1200">
              <a:solidFill>
                <a:srgbClr val="E31C23"/>
              </a:solidFill>
            </a:endParaRPr>
          </a:p>
        </p:txBody>
      </p:sp>
      <p:sp>
        <p:nvSpPr>
          <p:cNvPr id="101" name="Google Shape;101;p18"/>
          <p:cNvSpPr txBox="1"/>
          <p:nvPr>
            <p:ph type="ctrTitle"/>
          </p:nvPr>
        </p:nvSpPr>
        <p:spPr>
          <a:xfrm>
            <a:off x="378750" y="946200"/>
            <a:ext cx="7827300" cy="39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79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79">
                <a:solidFill>
                  <a:srgbClr val="FFFFFF"/>
                </a:solidFill>
              </a:rPr>
              <a:t>DeltaOps AI - Predictive Maintenance &amp; </a:t>
            </a:r>
            <a:r>
              <a:rPr lang="en" sz="1679">
                <a:solidFill>
                  <a:srgbClr val="FFFFFF"/>
                </a:solidFill>
              </a:rPr>
              <a:t>Performance</a:t>
            </a:r>
            <a:r>
              <a:rPr lang="en" sz="1679">
                <a:solidFill>
                  <a:srgbClr val="FFFFFF"/>
                </a:solidFill>
              </a:rPr>
              <a:t> Analyzer </a:t>
            </a:r>
            <a:endParaRPr i="1" sz="980">
              <a:solidFill>
                <a:srgbClr val="E31C23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45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50" y="0"/>
            <a:ext cx="8330101" cy="10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ctrTitle"/>
          </p:nvPr>
        </p:nvSpPr>
        <p:spPr>
          <a:xfrm>
            <a:off x="273325" y="1076525"/>
            <a:ext cx="3927300" cy="3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79">
                <a:solidFill>
                  <a:srgbClr val="FFFFFF"/>
                </a:solidFill>
              </a:rPr>
              <a:t>Proposal Summary:</a:t>
            </a:r>
            <a:endParaRPr i="1" sz="1180">
              <a:solidFill>
                <a:srgbClr val="E31C23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50" y="0"/>
            <a:ext cx="8330101" cy="10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9600" y="4804350"/>
            <a:ext cx="704401" cy="3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ctrTitle"/>
          </p:nvPr>
        </p:nvSpPr>
        <p:spPr>
          <a:xfrm>
            <a:off x="273325" y="1710803"/>
            <a:ext cx="8750700" cy="24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rgbClr val="FFFFFF"/>
                </a:solidFill>
              </a:rPr>
              <a:t>Each AI solution’s workflow describes a fully automated, AI-driven monitoring </a:t>
            </a:r>
            <a:r>
              <a:rPr lang="en" sz="1380">
                <a:solidFill>
                  <a:schemeClr val="lt1"/>
                </a:solidFill>
              </a:rPr>
              <a:t>system </a:t>
            </a:r>
            <a:r>
              <a:rPr lang="en" sz="1380">
                <a:solidFill>
                  <a:srgbClr val="FFFFFF"/>
                </a:solidFill>
              </a:rPr>
              <a:t>on AWS:</a:t>
            </a:r>
            <a:endParaRPr sz="13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Collecting data via CloudWatch, Kinesis, S3 &amp; Redshift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Orchestrating workflows with Lambda, Step Functions, CloudFormation</a:t>
            </a:r>
            <a:r>
              <a:rPr lang="en" sz="1380">
                <a:solidFill>
                  <a:srgbClr val="FFFFFF"/>
                </a:solidFill>
              </a:rPr>
              <a:t>,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Integrating AI interactions via </a:t>
            </a:r>
            <a:r>
              <a:rPr lang="en" sz="1380">
                <a:solidFill>
                  <a:schemeClr val="lt1"/>
                </a:solidFill>
              </a:rPr>
              <a:t>EventBridge </a:t>
            </a:r>
            <a:r>
              <a:rPr lang="en" sz="1380">
                <a:solidFill>
                  <a:srgbClr val="FFFFFF"/>
                </a:solidFill>
              </a:rPr>
              <a:t>using AWS Lex Gen AI V2 and AWS Connect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Running predictive models, visualizes insights via Quicksight &amp; triggers real-time alerts via SNS/SQS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Continuously improving models by automated retraining Reinforcement Learning from Human Feedback</a:t>
            </a:r>
            <a:endParaRPr sz="13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0">
                <a:solidFill>
                  <a:srgbClr val="FFFFFF"/>
                </a:solidFill>
              </a:rPr>
              <a:t>Integrated into real-time CI/CD pipelines that continuously: 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Monitor performance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Deploy updates</a:t>
            </a:r>
            <a:endParaRPr sz="1380">
              <a:solidFill>
                <a:srgbClr val="FFFFFF"/>
              </a:solidFill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"/>
              <a:buChar char="●"/>
            </a:pPr>
            <a:r>
              <a:rPr lang="en" sz="1380">
                <a:solidFill>
                  <a:srgbClr val="FFFFFF"/>
                </a:solidFill>
              </a:rPr>
              <a:t>Maintain system reliability</a:t>
            </a:r>
            <a:endParaRPr sz="1380">
              <a:solidFill>
                <a:srgbClr val="FFFFFF"/>
              </a:solidFill>
            </a:endParaRPr>
          </a:p>
        </p:txBody>
      </p:sp>
      <p:sp>
        <p:nvSpPr>
          <p:cNvPr id="112" name="Google Shape;112;p19"/>
          <p:cNvSpPr txBox="1"/>
          <p:nvPr>
            <p:ph type="ctrTitle"/>
          </p:nvPr>
        </p:nvSpPr>
        <p:spPr>
          <a:xfrm>
            <a:off x="3124425" y="4302550"/>
            <a:ext cx="1863900" cy="6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80">
                <a:solidFill>
                  <a:srgbClr val="FFFFFF"/>
                </a:solidFill>
                <a:latin typeface="Pacifico"/>
                <a:ea typeface="Pacifico"/>
                <a:cs typeface="Pacifico"/>
                <a:sym typeface="Pacifico"/>
              </a:rPr>
              <a:t>Thank You</a:t>
            </a:r>
            <a:endParaRPr i="1" sz="1879">
              <a:solidFill>
                <a:srgbClr val="E31C23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